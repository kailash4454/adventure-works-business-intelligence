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298" r:id="rId5"/>
    <p:sldId id="283" r:id="rId6"/>
    <p:sldId id="299" r:id="rId7"/>
    <p:sldId id="300" r:id="rId8"/>
    <p:sldId id="301" r:id="rId9"/>
    <p:sldId id="302" r:id="rId10"/>
    <p:sldId id="303" r:id="rId11"/>
    <p:sldId id="319" r:id="rId12"/>
    <p:sldId id="304" r:id="rId13"/>
    <p:sldId id="305" r:id="rId14"/>
    <p:sldId id="306" r:id="rId15"/>
    <p:sldId id="314" r:id="rId16"/>
    <p:sldId id="307" r:id="rId17"/>
    <p:sldId id="292" r:id="rId18"/>
    <p:sldId id="308" r:id="rId19"/>
    <p:sldId id="311" r:id="rId20"/>
    <p:sldId id="312" r:id="rId21"/>
    <p:sldId id="313" r:id="rId22"/>
    <p:sldId id="317" r:id="rId23"/>
    <p:sldId id="315" r:id="rId24"/>
    <p:sldId id="316" r:id="rId25"/>
    <p:sldId id="320" r:id="rId26"/>
    <p:sldId id="321" r:id="rId27"/>
    <p:sldId id="322" r:id="rId28"/>
    <p:sldId id="325" r:id="rId29"/>
    <p:sldId id="326" r:id="rId30"/>
    <p:sldId id="323" r:id="rId31"/>
    <p:sldId id="324" r:id="rId32"/>
    <p:sldId id="327" r:id="rId33"/>
    <p:sldId id="328" r:id="rId34"/>
    <p:sldId id="329" r:id="rId35"/>
    <p:sldId id="330" r:id="rId36"/>
    <p:sldId id="331" r:id="rId37"/>
    <p:sldId id="293" r:id="rId38"/>
    <p:sldId id="333" r:id="rId39"/>
    <p:sldId id="334" r:id="rId40"/>
    <p:sldId id="335" r:id="rId41"/>
    <p:sldId id="336" r:id="rId42"/>
    <p:sldId id="337" r:id="rId43"/>
    <p:sldId id="338" r:id="rId44"/>
    <p:sldId id="339" r:id="rId45"/>
    <p:sldId id="340" r:id="rId46"/>
    <p:sldId id="29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712" autoAdjust="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90652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3064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BBC0CAF5-0DE6-4BEA-824E-124A54A7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ED008080-B2F5-441A-8B15-30AE86BB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sz="2500" b="1" i="0" spc="-100" baseline="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n-US" sz="1200" b="0" i="0" spc="14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/>
          <a:lstStyle/>
          <a:p>
            <a:pPr algn="ctr"/>
            <a:r>
              <a:rPr lang="en-IN" sz="4400" dirty="0"/>
              <a:t>Adventure Works Business Intelligence &amp; Sales Analytics</a:t>
            </a:r>
            <a:br>
              <a:rPr lang="en-IN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/>
          <a:lstStyle/>
          <a:p>
            <a:pPr algn="ctr"/>
            <a:r>
              <a:rPr lang="en-IN" sz="1600" b="1" dirty="0"/>
              <a:t>End-to-End Data Analytics Project using MySQL, Excel, Power BI &amp; Tableau</a:t>
            </a:r>
            <a:endParaRPr lang="en-IN" sz="1600" dirty="0"/>
          </a:p>
          <a:p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284923" y="4275430"/>
            <a:ext cx="1402741" cy="327128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3200" b="1" spc="-100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Excel</a:t>
            </a:r>
            <a:r>
              <a:rPr lang="en-US" sz="3600" b="1" spc="-100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R</a:t>
            </a:r>
            <a:r>
              <a:rPr lang="en-US" sz="2400" b="1" i="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lang="en-US" b="0" i="0" spc="14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Project: P1345 – Adventure Works</a:t>
            </a:r>
          </a:p>
          <a:p>
            <a:pPr marL="0" indent="0">
              <a:buNone/>
            </a:pPr>
            <a:r>
              <a:rPr lang="en-IN" sz="2800" b="1" dirty="0"/>
              <a:t>Technologies Used</a:t>
            </a:r>
            <a:endParaRPr lang="en-IN" sz="2800" dirty="0"/>
          </a:p>
          <a:p>
            <a:r>
              <a:rPr lang="en-IN" sz="2400" dirty="0"/>
              <a:t>🗄 MySQL</a:t>
            </a:r>
          </a:p>
          <a:p>
            <a:r>
              <a:rPr lang="en-IN" sz="2400" dirty="0"/>
              <a:t>📊 Microsoft Excel</a:t>
            </a:r>
          </a:p>
          <a:p>
            <a:r>
              <a:rPr lang="en-IN" sz="2400" dirty="0"/>
              <a:t>📈 Power BI</a:t>
            </a:r>
          </a:p>
          <a:p>
            <a:r>
              <a:rPr lang="en-IN" sz="2400" dirty="0"/>
              <a:t>📉 Tableau</a:t>
            </a:r>
            <a:endParaRPr lang="en-US" sz="2400" dirty="0"/>
          </a:p>
        </p:txBody>
      </p:sp>
      <p:pic>
        <p:nvPicPr>
          <p:cNvPr id="9" name="Picture Placeholder 8" descr="Handing touching mobile phone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Presented By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Kailash , Pratyusha, </a:t>
            </a:r>
          </a:p>
          <a:p>
            <a:r>
              <a:rPr lang="en-US" dirty="0"/>
              <a:t>Swati , Manan,</a:t>
            </a:r>
          </a:p>
          <a:p>
            <a:r>
              <a:rPr lang="en-US" dirty="0"/>
              <a:t>Sahil, Priya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1AE4-81FB-C468-432B-3BB2662DC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Company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D20A8-A51E-FFBB-0C66-B7CD6C20E4A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sz="2400" b="1" dirty="0"/>
              <a:t>About Adventure 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B1DBE-F7EA-AA87-035F-AF2D6164B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Adventure Works Cycles is a multinational bicycle manufacturing company that sells products across North America, Europe, and Asia. The company manufactures bicycles and related accessories and maintains a large sales database for business analysis. The project scenario focuses on using historical sales data to support better business decisions.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7BE170-A6E2-3CA7-5ED2-1BBC07E5E8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/>
              <a:t>Business Environment</a:t>
            </a:r>
          </a:p>
          <a:p>
            <a:pPr lvl="0"/>
            <a:r>
              <a:rPr lang="en-IN" sz="2000" dirty="0"/>
              <a:t>Manufacturing Industry </a:t>
            </a:r>
          </a:p>
          <a:p>
            <a:pPr lvl="0"/>
            <a:r>
              <a:rPr lang="en-IN" sz="2000" dirty="0"/>
              <a:t>Global Operations </a:t>
            </a:r>
          </a:p>
          <a:p>
            <a:pPr lvl="0"/>
            <a:r>
              <a:rPr lang="en-IN" sz="2000" dirty="0"/>
              <a:t>Multiple Product Categories </a:t>
            </a:r>
          </a:p>
          <a:p>
            <a:pPr lvl="0"/>
            <a:r>
              <a:rPr lang="en-IN" sz="2000" dirty="0"/>
              <a:t>Multiple Sales Territories </a:t>
            </a:r>
          </a:p>
          <a:p>
            <a:pPr lvl="0"/>
            <a:r>
              <a:rPr lang="en-IN" sz="2000" dirty="0"/>
              <a:t>Large Customer Base </a:t>
            </a:r>
          </a:p>
          <a:p>
            <a:pPr lvl="0"/>
            <a:r>
              <a:rPr lang="en-IN" sz="2000" dirty="0"/>
              <a:t>Historical Sales Data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01C902-94BD-9746-FA6B-DEC4C5D905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/>
              <a:t>Objectives</a:t>
            </a:r>
          </a:p>
          <a:p>
            <a:pPr marL="0" indent="0">
              <a:buNone/>
            </a:pPr>
            <a:r>
              <a:rPr lang="en-IN" sz="2000" dirty="0"/>
              <a:t>✔ Improve Sales Performance</a:t>
            </a:r>
          </a:p>
          <a:p>
            <a:pPr marL="0" indent="0">
              <a:buNone/>
            </a:pPr>
            <a:r>
              <a:rPr lang="en-IN" sz="2000" dirty="0"/>
              <a:t>✔ Improve Profitability</a:t>
            </a:r>
          </a:p>
          <a:p>
            <a:pPr marL="0" indent="0">
              <a:buNone/>
            </a:pPr>
            <a:r>
              <a:rPr lang="en-IN" sz="2000" dirty="0"/>
              <a:t>✔ Identify Best Customers</a:t>
            </a:r>
          </a:p>
          <a:p>
            <a:pPr marL="0" indent="0">
              <a:buNone/>
            </a:pPr>
            <a:r>
              <a:rPr lang="en-IN" sz="2000" dirty="0"/>
              <a:t>✔ Analyse Product Performance</a:t>
            </a:r>
          </a:p>
          <a:p>
            <a:pPr marL="0" indent="0">
              <a:buNone/>
            </a:pPr>
            <a:r>
              <a:rPr lang="en-IN" sz="2000" dirty="0"/>
              <a:t>✔ Improve Regional Sales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0A7F94-BDF9-5E5C-4CAC-42657B930C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EF979C-6B63-5117-0316-454BC25FD3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231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3CF4-F8B0-B16C-97D8-A7BD598D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06302-A58B-B306-C479-7E75BA91AF9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Adventure Works wants to answer several key business questions: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C6C07-6673-48B1-6BD6-C4D728976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Sales</a:t>
            </a:r>
          </a:p>
          <a:p>
            <a:r>
              <a:rPr lang="en-IN" dirty="0"/>
              <a:t>How are sales performing over time?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Profit</a:t>
            </a:r>
          </a:p>
          <a:p>
            <a:r>
              <a:rPr lang="en-IN" dirty="0"/>
              <a:t>Which products generate maximum profit?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Customers</a:t>
            </a:r>
          </a:p>
          <a:p>
            <a:r>
              <a:rPr lang="en-IN" dirty="0"/>
              <a:t>Who are the most valuable customers?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Products</a:t>
            </a:r>
          </a:p>
          <a:p>
            <a:r>
              <a:rPr lang="en-IN" dirty="0"/>
              <a:t>Which products contribute most to revenue?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Geography</a:t>
            </a:r>
          </a:p>
          <a:p>
            <a:r>
              <a:rPr lang="en-IN" dirty="0"/>
              <a:t>Which countries and regions perform best?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E341A-639A-FA7B-0DD3-684BC36937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A16C0-0D15-B4D5-E6F3-14B042D1A4E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1088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53D9-6BE2-F367-AA61-C33293B0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AA8F2-AF6F-8F9C-77D5-FE7D7902DF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/>
              <a:t>Develop an end-to-end Business Intelligence solution for Adventure Works.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DF621-6BDD-AE13-B646-F86692B7A4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/>
              <a:t>Specific Objectives</a:t>
            </a:r>
          </a:p>
          <a:p>
            <a:pPr marL="0" indent="0">
              <a:buNone/>
            </a:pPr>
            <a:r>
              <a:rPr lang="en-IN"/>
              <a:t>✔ Design a relational database</a:t>
            </a:r>
          </a:p>
          <a:p>
            <a:pPr marL="0" indent="0">
              <a:buNone/>
            </a:pPr>
            <a:r>
              <a:rPr lang="en-IN"/>
              <a:t>✔ Import and clean data</a:t>
            </a:r>
          </a:p>
          <a:p>
            <a:pPr marL="0" indent="0">
              <a:buNone/>
            </a:pPr>
            <a:r>
              <a:rPr lang="en-IN"/>
              <a:t>✔ Build Star Schema</a:t>
            </a:r>
          </a:p>
          <a:p>
            <a:pPr marL="0" indent="0">
              <a:buNone/>
            </a:pPr>
            <a:r>
              <a:rPr lang="en-IN"/>
              <a:t>✔ Perform SQL Analysis</a:t>
            </a:r>
          </a:p>
          <a:p>
            <a:pPr marL="0" indent="0">
              <a:buNone/>
            </a:pPr>
            <a:r>
              <a:rPr lang="en-IN"/>
              <a:t>✔ Create KPIs</a:t>
            </a:r>
          </a:p>
          <a:p>
            <a:pPr marL="0" indent="0">
              <a:buNone/>
            </a:pPr>
            <a:r>
              <a:rPr lang="en-IN"/>
              <a:t>✔ Build Interactive Dashboards</a:t>
            </a:r>
          </a:p>
          <a:p>
            <a:pPr marL="0" indent="0">
              <a:buNone/>
            </a:pPr>
            <a:r>
              <a:rPr lang="en-IN"/>
              <a:t>✔ Generate Business Insights</a:t>
            </a:r>
          </a:p>
          <a:p>
            <a:pPr marL="0" indent="0">
              <a:buNone/>
            </a:pPr>
            <a:r>
              <a:rPr lang="en-IN"/>
              <a:t>✔ Support Decision Making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C909B-9414-813A-603B-9FAD34E60A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/>
              <a:t>Deliverables</a:t>
            </a:r>
          </a:p>
          <a:p>
            <a:r>
              <a:rPr lang="en-IN"/>
              <a:t>MySQL Database</a:t>
            </a:r>
          </a:p>
          <a:p>
            <a:r>
              <a:rPr lang="en-IN"/>
              <a:t>Excel Dashboard</a:t>
            </a:r>
          </a:p>
          <a:p>
            <a:r>
              <a:rPr lang="en-IN"/>
              <a:t>Power BI Dashboards</a:t>
            </a:r>
          </a:p>
          <a:p>
            <a:r>
              <a:rPr lang="en-IN"/>
              <a:t>Tableau Dashboard</a:t>
            </a:r>
          </a:p>
          <a:p>
            <a:r>
              <a:rPr lang="en-IN"/>
              <a:t>Business Report</a:t>
            </a:r>
          </a:p>
          <a:p>
            <a:r>
              <a:rPr lang="en-IN"/>
              <a:t>Presentation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F359C-2172-323F-3AFA-DF3D4514A5C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56265-4F61-FDAD-4C56-4DFEF0302D2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411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AF6F-C7A4-E7F6-6F64-47BEBB4D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1B5B9-A017-5005-9459-BF6B5FF067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2D83E-7CAF-A382-49A7-16CD4F85646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F9FE9C-CEF6-ECA1-6F6C-61FC70F80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End-to-End Analytics Workflow</a:t>
            </a:r>
          </a:p>
          <a:p>
            <a:r>
              <a:rPr lang="en-IN" dirty="0"/>
              <a:t> </a:t>
            </a:r>
            <a:r>
              <a:rPr lang="en-IN" sz="1400" dirty="0"/>
              <a:t>Adventure Works Dataset</a:t>
            </a:r>
          </a:p>
          <a:p>
            <a:pPr marL="0" indent="0">
              <a:buNone/>
            </a:pPr>
            <a:r>
              <a:rPr lang="en-IN" sz="1400" dirty="0"/>
              <a:t>                          │</a:t>
            </a:r>
          </a:p>
          <a:p>
            <a:pPr marL="0" indent="0">
              <a:buNone/>
            </a:pPr>
            <a:r>
              <a:rPr lang="en-IN" sz="1400" dirty="0"/>
              <a:t>                          ▼</a:t>
            </a:r>
          </a:p>
          <a:p>
            <a:pPr marL="0" indent="0">
              <a:buNone/>
            </a:pPr>
            <a:r>
              <a:rPr lang="en-IN" sz="1400" dirty="0"/>
              <a:t>                  MySQL Database</a:t>
            </a:r>
          </a:p>
          <a:p>
            <a:pPr marL="0" indent="0">
              <a:buNone/>
            </a:pPr>
            <a:r>
              <a:rPr lang="en-IN" sz="1400" dirty="0"/>
              <a:t>            (Storage &amp; SQL Analysis)</a:t>
            </a:r>
          </a:p>
          <a:p>
            <a:pPr marL="0" indent="0">
              <a:buNone/>
            </a:pPr>
            <a:r>
              <a:rPr lang="en-IN" sz="1400" dirty="0"/>
              <a:t>                          │</a:t>
            </a:r>
          </a:p>
          <a:p>
            <a:pPr marL="0" indent="0">
              <a:buNone/>
            </a:pPr>
            <a:r>
              <a:rPr lang="en-IN" sz="1400" dirty="0"/>
              <a:t>                          ▼</a:t>
            </a:r>
          </a:p>
          <a:p>
            <a:pPr marL="0" indent="0">
              <a:buNone/>
            </a:pPr>
            <a:r>
              <a:rPr lang="en-IN" sz="1400" dirty="0"/>
              <a:t>                Microsoft Excel</a:t>
            </a:r>
          </a:p>
          <a:p>
            <a:pPr marL="0" indent="0">
              <a:buNone/>
            </a:pPr>
            <a:r>
              <a:rPr lang="en-IN" sz="1400" dirty="0"/>
              <a:t>         (Cleaning, KPIs &amp; Dashboard)</a:t>
            </a:r>
          </a:p>
          <a:p>
            <a:pPr marL="0" indent="0">
              <a:buNone/>
            </a:pPr>
            <a:r>
              <a:rPr lang="en-IN" sz="1400" dirty="0"/>
              <a:t>                          │</a:t>
            </a:r>
          </a:p>
          <a:p>
            <a:pPr marL="0" indent="0">
              <a:buNone/>
            </a:pPr>
            <a:r>
              <a:rPr lang="en-IN" sz="1400" dirty="0"/>
              <a:t>                          ▼</a:t>
            </a:r>
          </a:p>
          <a:p>
            <a:pPr marL="0" indent="0">
              <a:buNone/>
            </a:pPr>
            <a:r>
              <a:rPr lang="en-IN" sz="1400" dirty="0"/>
              <a:t>                    Power BI</a:t>
            </a:r>
          </a:p>
          <a:p>
            <a:pPr marL="0" indent="0">
              <a:buNone/>
            </a:pPr>
            <a:r>
              <a:rPr lang="en-IN" sz="1400" dirty="0"/>
              <a:t>      (Data Model, DAX &amp; Dashboards)</a:t>
            </a:r>
          </a:p>
          <a:p>
            <a:pPr marL="0" indent="0">
              <a:buNone/>
            </a:pPr>
            <a:r>
              <a:rPr lang="en-IN" sz="1400" dirty="0"/>
              <a:t>                          │</a:t>
            </a:r>
          </a:p>
          <a:p>
            <a:pPr marL="0" indent="0">
              <a:buNone/>
            </a:pPr>
            <a:r>
              <a:rPr lang="en-IN" sz="1400" dirty="0"/>
              <a:t>                          ▼</a:t>
            </a:r>
          </a:p>
          <a:p>
            <a:pPr marL="0" indent="0">
              <a:buNone/>
            </a:pPr>
            <a:r>
              <a:rPr lang="en-IN" sz="1400" dirty="0"/>
              <a:t>                     Tableau</a:t>
            </a:r>
          </a:p>
          <a:p>
            <a:pPr marL="0" indent="0">
              <a:buNone/>
            </a:pPr>
            <a:r>
              <a:rPr lang="en-IN" sz="1400" dirty="0"/>
              <a:t>      (Interactive Visual Analytics)</a:t>
            </a:r>
          </a:p>
          <a:p>
            <a:pPr marL="0" indent="0">
              <a:buNone/>
            </a:pPr>
            <a:r>
              <a:rPr lang="en-IN" sz="1400" dirty="0"/>
              <a:t>                          │</a:t>
            </a:r>
          </a:p>
          <a:p>
            <a:pPr marL="0" indent="0">
              <a:buNone/>
            </a:pPr>
            <a:r>
              <a:rPr lang="en-IN" sz="1400" dirty="0"/>
              <a:t>                          ▼</a:t>
            </a:r>
          </a:p>
          <a:p>
            <a:pPr marL="0" indent="0">
              <a:buNone/>
            </a:pPr>
            <a:r>
              <a:rPr lang="en-IN" sz="1400" dirty="0"/>
              <a:t>              Business Insights &amp;</a:t>
            </a:r>
          </a:p>
          <a:p>
            <a:pPr marL="0" indent="0">
              <a:buNone/>
            </a:pPr>
            <a:r>
              <a:rPr lang="en-IN" sz="1400" dirty="0"/>
              <a:t>             Executive Decision Making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2B1A69-0679-A3EF-AFFF-5FE040097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b="1" dirty="0"/>
              <a:t>Why this Architecture?</a:t>
            </a:r>
          </a:p>
          <a:p>
            <a:r>
              <a:rPr lang="en-IN" dirty="0"/>
              <a:t>✔ Scalable</a:t>
            </a:r>
          </a:p>
          <a:p>
            <a:r>
              <a:rPr lang="en-IN" dirty="0"/>
              <a:t>✔ Organized</a:t>
            </a:r>
          </a:p>
          <a:p>
            <a:r>
              <a:rPr lang="en-IN" dirty="0"/>
              <a:t>✔ Easy to Maintain</a:t>
            </a:r>
          </a:p>
          <a:p>
            <a:r>
              <a:rPr lang="en-IN" dirty="0"/>
              <a:t>✔ Industry Standard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98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D2F6-E4D7-E612-32C2-3A7BAFF8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3635033" cy="1411276"/>
          </a:xfrm>
        </p:spPr>
        <p:txBody>
          <a:bodyPr/>
          <a:lstStyle/>
          <a:p>
            <a:r>
              <a:rPr lang="en-IN" dirty="0"/>
              <a:t>Data Model (Star Schema)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4FB5E-6A99-F8AB-100A-B7425B4F4DE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D22EF-5691-624B-DA54-F7B71578FBC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DDFBC-ED99-3CBE-AB80-44DE98E3B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635032" cy="3811588"/>
          </a:xfrm>
        </p:spPr>
        <p:txBody>
          <a:bodyPr/>
          <a:lstStyle/>
          <a:p>
            <a:r>
              <a:rPr lang="en-IN" sz="1800" dirty="0"/>
              <a:t>This project uses a star schema centred on the </a:t>
            </a:r>
            <a:r>
              <a:rPr lang="en-IN" sz="1800" b="1" dirty="0"/>
              <a:t>FactInternetSales</a:t>
            </a:r>
            <a:r>
              <a:rPr lang="en-IN" sz="1800" dirty="0"/>
              <a:t> table with dimension tables for Customer, Date, Product, and Sales Territory, as described in the project document.</a:t>
            </a:r>
          </a:p>
          <a:p>
            <a:r>
              <a:rPr lang="en-IN" sz="1800" b="1" dirty="0"/>
              <a:t>Benefits</a:t>
            </a:r>
          </a:p>
          <a:p>
            <a:r>
              <a:rPr lang="en-IN" sz="1800" dirty="0"/>
              <a:t>✔ Faster Reporting</a:t>
            </a:r>
          </a:p>
          <a:p>
            <a:r>
              <a:rPr lang="en-IN" sz="1800" dirty="0"/>
              <a:t>✔ Better Query Performance</a:t>
            </a:r>
          </a:p>
          <a:p>
            <a:r>
              <a:rPr lang="en-IN" sz="1800" dirty="0"/>
              <a:t>✔ Easy Data Analysis</a:t>
            </a:r>
          </a:p>
          <a:p>
            <a:r>
              <a:rPr lang="en-IN" sz="1800" dirty="0"/>
              <a:t>✔ Optimized Dashboard Performance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BECB18B8-0144-2DFE-63E8-1B59AE7DCA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6" r="226"/>
          <a:stretch>
            <a:fillRect/>
          </a:stretch>
        </p:blipFill>
        <p:spPr>
          <a:xfrm>
            <a:off x="4271963" y="431800"/>
            <a:ext cx="7488237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6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1E5A158-A3E4-5F6F-3B36-72A90C82D29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1618" r="11618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AD02A9C-6200-D523-2F9E-9D376276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Database Implementation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57C19-6FEB-C2FD-3256-C23E2C94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110C3-A696-8F05-CFA4-7E6B65D5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1007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2986-942B-A69F-D606-CB48D393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Database Design &amp; Data Preparation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4EB93-00A2-0429-086F-9B3F2A1F5C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FC4BE-FBBA-6740-5355-C830EADD915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33E0FB-4E46-40F0-E23D-D1296484E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IN" dirty="0"/>
              <a:t>                   Adventure Works Raw Data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                       CSV / Excel Files</a:t>
            </a:r>
          </a:p>
          <a:p>
            <a:pPr marL="0" indent="0" algn="ctr">
              <a:buNone/>
            </a:pPr>
            <a:r>
              <a:rPr lang="en-IN" dirty="0"/>
              <a:t>                              │</a:t>
            </a:r>
          </a:p>
          <a:p>
            <a:pPr marL="0" indent="0" algn="ctr">
              <a:buNone/>
            </a:pPr>
            <a:r>
              <a:rPr lang="en-IN" dirty="0"/>
              <a:t>                              ▼</a:t>
            </a:r>
          </a:p>
          <a:p>
            <a:pPr marL="0" indent="0" algn="ctr">
              <a:buNone/>
            </a:pPr>
            <a:r>
              <a:rPr lang="en-IN" dirty="0"/>
              <a:t>                     MySQL Database</a:t>
            </a:r>
          </a:p>
          <a:p>
            <a:pPr marL="0" indent="0" algn="ctr">
              <a:buNone/>
            </a:pPr>
            <a:r>
              <a:rPr lang="en-IN" dirty="0"/>
              <a:t>           </a:t>
            </a:r>
          </a:p>
          <a:p>
            <a:pPr marL="0" indent="0" algn="ctr">
              <a:buNone/>
            </a:pPr>
            <a:r>
              <a:rPr lang="en-IN" dirty="0"/>
              <a:t>    </a:t>
            </a:r>
          </a:p>
          <a:p>
            <a:pPr marL="0" indent="0" algn="ctr">
              <a:buNone/>
            </a:pPr>
            <a:r>
              <a:rPr lang="en-IN" dirty="0"/>
              <a:t> DimCustomer             DimProduct              DimDate                    DimSalesTerritory</a:t>
            </a:r>
          </a:p>
          <a:p>
            <a:pPr marL="0" indent="0" algn="ctr">
              <a:buNone/>
            </a:pPr>
            <a:r>
              <a:rPr lang="en-IN" dirty="0"/>
              <a:t>                       │</a:t>
            </a:r>
          </a:p>
          <a:p>
            <a:pPr marL="0" indent="0" algn="ctr">
              <a:buNone/>
            </a:pPr>
            <a:r>
              <a:rPr lang="en-IN" dirty="0"/>
              <a:t>                       ▼</a:t>
            </a:r>
          </a:p>
          <a:p>
            <a:pPr marL="0" indent="0" algn="ctr">
              <a:buNone/>
            </a:pPr>
            <a:r>
              <a:rPr lang="en-IN" dirty="0"/>
              <a:t>               FactInternetSales</a:t>
            </a:r>
          </a:p>
          <a:p>
            <a:pPr marL="0" indent="0" algn="ctr">
              <a:buNone/>
            </a:pPr>
            <a:r>
              <a:rPr lang="en-IN" dirty="0"/>
              <a:t>                       │</a:t>
            </a:r>
          </a:p>
          <a:p>
            <a:pPr marL="0" indent="0" algn="ctr">
              <a:buNone/>
            </a:pPr>
            <a:r>
              <a:rPr lang="en-IN" dirty="0"/>
              <a:t>                       ▼</a:t>
            </a:r>
          </a:p>
          <a:p>
            <a:pPr marL="0" indent="0" algn="ctr">
              <a:buNone/>
            </a:pPr>
            <a:r>
              <a:rPr lang="en-IN" dirty="0"/>
              <a:t>                 SQL Queries &amp; Analysis</a:t>
            </a:r>
          </a:p>
          <a:p>
            <a:pPr marL="0" indent="0" algn="ctr">
              <a:buNone/>
            </a:pPr>
            <a:r>
              <a:rPr lang="en-IN" dirty="0"/>
              <a:t>                       │</a:t>
            </a:r>
          </a:p>
          <a:p>
            <a:pPr marL="0" indent="0" algn="ctr">
              <a:buNone/>
            </a:pPr>
            <a:r>
              <a:rPr lang="en-IN" dirty="0"/>
              <a:t>                       ▼</a:t>
            </a:r>
          </a:p>
          <a:p>
            <a:pPr marL="0" indent="0" algn="ctr">
              <a:buNone/>
            </a:pPr>
            <a:r>
              <a:rPr lang="en-IN" dirty="0"/>
              <a:t>             Clean Analytical Dataset</a:t>
            </a:r>
          </a:p>
          <a:p>
            <a:pPr marL="0" indent="0" algn="ctr">
              <a:buNone/>
            </a:pPr>
            <a:r>
              <a:rPr lang="en-IN" dirty="0"/>
              <a:t>                       │</a:t>
            </a:r>
          </a:p>
          <a:p>
            <a:pPr marL="0" indent="0" algn="ctr">
              <a:buNone/>
            </a:pPr>
            <a:r>
              <a:rPr lang="en-IN" dirty="0"/>
              <a:t>                       ▼</a:t>
            </a:r>
          </a:p>
          <a:p>
            <a:pPr marL="0" indent="0" algn="ctr">
              <a:buNone/>
            </a:pPr>
            <a:r>
              <a:rPr lang="en-IN" dirty="0"/>
              <a:t>            Power BI &amp; Tableau Dashboards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F36A93-56AC-EA9F-D4B4-34E6B1E39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b="1" dirty="0"/>
              <a:t>Objective</a:t>
            </a:r>
          </a:p>
          <a:p>
            <a:r>
              <a:rPr lang="en-IN" dirty="0"/>
              <a:t>Build a structured relational database to efficiently store, manage, and prepare Adventure Works sales data for Business Intelligence reporting.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Technologies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MySQL Workbench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Relational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Star Schema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9692A6-5609-3C73-4AFF-C7F8433D6BE7}"/>
              </a:ext>
            </a:extLst>
          </p:cNvPr>
          <p:cNvCxnSpPr/>
          <p:nvPr/>
        </p:nvCxnSpPr>
        <p:spPr>
          <a:xfrm>
            <a:off x="6636589" y="2058837"/>
            <a:ext cx="35425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2579AC-C3B1-AB1D-92EE-D98589F59435}"/>
              </a:ext>
            </a:extLst>
          </p:cNvPr>
          <p:cNvCxnSpPr>
            <a:cxnSpLocks/>
          </p:cNvCxnSpPr>
          <p:nvPr/>
        </p:nvCxnSpPr>
        <p:spPr>
          <a:xfrm>
            <a:off x="6636589" y="2055962"/>
            <a:ext cx="0" cy="25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CAFA4F-B6BE-1F33-6B02-94F954357947}"/>
              </a:ext>
            </a:extLst>
          </p:cNvPr>
          <p:cNvCxnSpPr/>
          <p:nvPr/>
        </p:nvCxnSpPr>
        <p:spPr>
          <a:xfrm>
            <a:off x="7476226" y="2055962"/>
            <a:ext cx="0" cy="307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88CF24-F0F0-F71F-37A4-8DA18C8D7628}"/>
              </a:ext>
            </a:extLst>
          </p:cNvPr>
          <p:cNvCxnSpPr/>
          <p:nvPr/>
        </p:nvCxnSpPr>
        <p:spPr>
          <a:xfrm>
            <a:off x="8597660" y="2055962"/>
            <a:ext cx="0" cy="324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7916C0-6836-D023-9DCE-1BDBC46D4C91}"/>
              </a:ext>
            </a:extLst>
          </p:cNvPr>
          <p:cNvCxnSpPr/>
          <p:nvPr/>
        </p:nvCxnSpPr>
        <p:spPr>
          <a:xfrm>
            <a:off x="10179170" y="2055962"/>
            <a:ext cx="0" cy="324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20C616-82F9-4743-1426-396B98FDB7BE}"/>
              </a:ext>
            </a:extLst>
          </p:cNvPr>
          <p:cNvCxnSpPr/>
          <p:nvPr/>
        </p:nvCxnSpPr>
        <p:spPr>
          <a:xfrm>
            <a:off x="8597660" y="1843276"/>
            <a:ext cx="0" cy="212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5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9DE7-5F80-02FE-43E7-1531E141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32000"/>
            <a:ext cx="2995562" cy="1411276"/>
          </a:xfrm>
        </p:spPr>
        <p:txBody>
          <a:bodyPr/>
          <a:lstStyle/>
          <a:p>
            <a:r>
              <a:rPr lang="en-IN" dirty="0"/>
              <a:t>Database Schema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A3E43-A0E2-72B6-DFA5-FF6A965BE2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CEF82-85B2-8CF9-BE09-771C2DE028F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5D8C96-4AED-0B88-2418-A9EF84E03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849" y="432001"/>
            <a:ext cx="8108151" cy="542905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   </a:t>
            </a:r>
            <a:r>
              <a:rPr lang="en-IN" sz="2400" b="1" dirty="0"/>
              <a:t>Database Structure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D4B0B-FBDF-9252-2E12-6F8CDA61F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2995563" cy="3811588"/>
          </a:xfrm>
        </p:spPr>
        <p:txBody>
          <a:bodyPr/>
          <a:lstStyle/>
          <a:p>
            <a:r>
              <a:rPr lang="en-IN" sz="1800" b="1" dirty="0"/>
              <a:t>Why Star Schema?</a:t>
            </a:r>
          </a:p>
          <a:p>
            <a:r>
              <a:rPr lang="en-IN" sz="1800" dirty="0"/>
              <a:t>✔ Faster reporting</a:t>
            </a:r>
          </a:p>
          <a:p>
            <a:r>
              <a:rPr lang="en-IN" sz="1800" dirty="0"/>
              <a:t>✔ Optimized SQL queries</a:t>
            </a:r>
          </a:p>
          <a:p>
            <a:r>
              <a:rPr lang="en-IN" sz="1800" dirty="0"/>
              <a:t>✔ Easy dashboard integration</a:t>
            </a:r>
          </a:p>
          <a:p>
            <a:r>
              <a:rPr lang="en-IN" sz="1800" dirty="0"/>
              <a:t>✔ Industry-standard BI    architecture</a:t>
            </a:r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77349F-E2FD-B9F3-7D7E-9EFB0B547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604366"/>
              </p:ext>
            </p:extLst>
          </p:nvPr>
        </p:nvGraphicFramePr>
        <p:xfrm>
          <a:off x="3881886" y="996949"/>
          <a:ext cx="7930071" cy="4817256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2643357">
                  <a:extLst>
                    <a:ext uri="{9D8B030D-6E8A-4147-A177-3AD203B41FA5}">
                      <a16:colId xmlns:a16="http://schemas.microsoft.com/office/drawing/2014/main" val="1137211826"/>
                    </a:ext>
                  </a:extLst>
                </a:gridCol>
                <a:gridCol w="2643357">
                  <a:extLst>
                    <a:ext uri="{9D8B030D-6E8A-4147-A177-3AD203B41FA5}">
                      <a16:colId xmlns:a16="http://schemas.microsoft.com/office/drawing/2014/main" val="3347876950"/>
                    </a:ext>
                  </a:extLst>
                </a:gridCol>
                <a:gridCol w="2643357">
                  <a:extLst>
                    <a:ext uri="{9D8B030D-6E8A-4147-A177-3AD203B41FA5}">
                      <a16:colId xmlns:a16="http://schemas.microsoft.com/office/drawing/2014/main" val="2869346267"/>
                    </a:ext>
                  </a:extLst>
                </a:gridCol>
              </a:tblGrid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279775"/>
                  </a:ext>
                </a:extLst>
              </a:tr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FactInternetSales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Fact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sales transactions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222824"/>
                  </a:ext>
                </a:extLst>
              </a:tr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730103"/>
                  </a:ext>
                </a:extLst>
              </a:tr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67398"/>
                  </a:ext>
                </a:extLst>
              </a:tr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 hierarchy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103750"/>
                  </a:ext>
                </a:extLst>
              </a:tr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DimSalesTerritory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Geographic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222271"/>
                  </a:ext>
                </a:extLst>
              </a:tr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DimProductCategory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34272"/>
                  </a:ext>
                </a:extLst>
              </a:tr>
              <a:tr h="602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DimProductSubCategory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 subcategories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435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8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C438-DBDB-C32A-EBC9-CDA53130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Queries &amp; Data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96148-767D-C404-12E8-E806800965D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SQL Operations Performed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1A38B-85F6-1204-5ADC-8C7638FE7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Data Import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Imported CSV files into MySQL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Verified data integrity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Created primary and foreign keys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Data 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INNER JOIN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LEFT JOIN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GROUP BY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ORDER BY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Aggregate 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48DB6-F1C6-4D3F-8F8E-E33261B529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SQL Functions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SUM()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COUNT()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AVG()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ROUND()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STR_TO_DATE()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9510FE-7FF9-BFBE-FA9A-C9F1CB18E9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Business Queries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Total Sales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Total Profit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Country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Top Customers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Top 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Monthly Sales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Category Performance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AE2810-0820-81D4-C593-71EBC991EE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910F2F-7027-F860-3D63-CA1DD7C6FC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0141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3934F8-813F-A4ED-F423-0E946E337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087" y="252413"/>
            <a:ext cx="11230913" cy="5938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39C06-794B-FBBA-44BF-4BCAF79BE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0DE14-BE5A-9427-72D9-18E4AF5BA33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2504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55CE3-738C-78B1-82A3-F52F64C7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Business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E9460-74BB-BEDA-AF32-4EE86478F08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Insights Generated Using SQL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45E82-473D-BF1B-4C7F-D1E764AE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Executive KPIs</a:t>
            </a:r>
          </a:p>
          <a:p>
            <a:pPr>
              <a:buNone/>
            </a:pPr>
            <a:r>
              <a:rPr lang="en-IN" dirty="0"/>
              <a:t>💰 Total Sales</a:t>
            </a:r>
          </a:p>
          <a:p>
            <a:pPr>
              <a:buNone/>
            </a:pPr>
            <a:r>
              <a:rPr lang="en-IN" dirty="0"/>
              <a:t>📈 Total Profit</a:t>
            </a:r>
          </a:p>
          <a:p>
            <a:pPr>
              <a:buNone/>
            </a:pPr>
            <a:r>
              <a:rPr lang="en-IN" dirty="0"/>
              <a:t>👥 Total Customers</a:t>
            </a:r>
          </a:p>
          <a:p>
            <a:pPr>
              <a:buNone/>
            </a:pPr>
            <a:r>
              <a:rPr lang="en-IN" dirty="0"/>
              <a:t>🛒 Total Orders</a:t>
            </a:r>
          </a:p>
          <a:p>
            <a:pPr>
              <a:buNone/>
            </a:pPr>
            <a:r>
              <a:rPr lang="en-IN" dirty="0"/>
              <a:t>📦 Total Quantity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D36CF-4682-5E75-EA9A-40DF22CA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Analytical Reports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Country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Territory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Product Category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Top Customers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Monthly Sales Trend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Profit by Region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110970-5557-37AA-EB2B-7BFED43CC3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Business Value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Faster reporting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Better data quality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Reliable source for dashboards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Foundation for BI analysis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4091FA-6975-0333-E47D-8698D892AC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7512E-1E5C-94C3-A77B-9FCC9E0AC9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964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Desk with computer, phone, book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Microsoft Excel Analytics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03AE-E76A-1986-46AC-41229DEC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Microsoft Excel Data Analysis Workflow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D987D-CCB1-ACD7-B71F-BAFC64FC7FA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AD926-72D3-6595-BAC1-27AEBFC53A1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8AB342-0A12-A783-1CAE-4F9FBD5D4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Workflow</a:t>
            </a:r>
          </a:p>
          <a:p>
            <a:pPr marL="0" indent="0" algn="ctr">
              <a:buNone/>
            </a:pPr>
            <a:r>
              <a:rPr lang="en-IN" dirty="0"/>
              <a:t>MySQL Export</a:t>
            </a:r>
          </a:p>
          <a:p>
            <a:pPr marL="0" indent="0" algn="ctr">
              <a:buNone/>
            </a:pPr>
            <a:r>
              <a:rPr lang="en-IN" dirty="0"/>
              <a:t>   </a:t>
            </a:r>
          </a:p>
          <a:p>
            <a:pPr marL="0" indent="0" algn="ctr">
              <a:buNone/>
            </a:pPr>
            <a:r>
              <a:rPr lang="en-IN" dirty="0"/>
              <a:t>Import into Excel</a:t>
            </a:r>
          </a:p>
          <a:p>
            <a:pPr marL="0" indent="0" algn="ctr">
              <a:buNone/>
            </a:pPr>
            <a:r>
              <a:rPr lang="en-IN" dirty="0"/>
              <a:t>      </a:t>
            </a:r>
          </a:p>
          <a:p>
            <a:pPr marL="0" indent="0" algn="ctr">
              <a:buNone/>
            </a:pPr>
            <a:r>
              <a:rPr lang="en-IN" dirty="0"/>
              <a:t>Data Validation</a:t>
            </a:r>
          </a:p>
          <a:p>
            <a:pPr marL="0" indent="0" algn="ctr">
              <a:buNone/>
            </a:pP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/>
              <a:t>Calculated Columns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Pivot Tables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Charts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Interactive Dashboard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A74434-8BE8-8C4D-FD21-EF77690A4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Excel Features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XLOOKUP / VLOOKUP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IF Functions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SUMIFS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Pivot Tables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Pivot Charts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Slicers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Conditional Formatting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Combo Charts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32361A-C8C5-4FDD-A0E8-3C9CF5219414}"/>
              </a:ext>
            </a:extLst>
          </p:cNvPr>
          <p:cNvCxnSpPr/>
          <p:nvPr/>
        </p:nvCxnSpPr>
        <p:spPr>
          <a:xfrm>
            <a:off x="8255478" y="1150188"/>
            <a:ext cx="0" cy="2990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77C5DA-4004-985C-A88F-3C9160E3761B}"/>
              </a:ext>
            </a:extLst>
          </p:cNvPr>
          <p:cNvCxnSpPr/>
          <p:nvPr/>
        </p:nvCxnSpPr>
        <p:spPr>
          <a:xfrm>
            <a:off x="8255478" y="1870494"/>
            <a:ext cx="0" cy="3738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1724AB-EC1C-F43B-0D3B-F435F43BD0BD}"/>
              </a:ext>
            </a:extLst>
          </p:cNvPr>
          <p:cNvCxnSpPr/>
          <p:nvPr/>
        </p:nvCxnSpPr>
        <p:spPr>
          <a:xfrm>
            <a:off x="8255478" y="2628180"/>
            <a:ext cx="0" cy="368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0CCADD-9167-0B26-2D04-A3FC822BE7F7}"/>
              </a:ext>
            </a:extLst>
          </p:cNvPr>
          <p:cNvCxnSpPr/>
          <p:nvPr/>
        </p:nvCxnSpPr>
        <p:spPr>
          <a:xfrm>
            <a:off x="8255478" y="3315418"/>
            <a:ext cx="0" cy="368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20473C-7595-AD09-B307-505D05B4701C}"/>
              </a:ext>
            </a:extLst>
          </p:cNvPr>
          <p:cNvCxnSpPr/>
          <p:nvPr/>
        </p:nvCxnSpPr>
        <p:spPr>
          <a:xfrm>
            <a:off x="8287109" y="4103298"/>
            <a:ext cx="0" cy="368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3FD3F3-EC12-7EE1-61AC-B128C8A7EF33}"/>
              </a:ext>
            </a:extLst>
          </p:cNvPr>
          <p:cNvCxnSpPr/>
          <p:nvPr/>
        </p:nvCxnSpPr>
        <p:spPr>
          <a:xfrm>
            <a:off x="8255478" y="4810664"/>
            <a:ext cx="0" cy="368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070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1AED45-FBC3-ED03-256F-49E57F7C8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800" y="201284"/>
            <a:ext cx="11328400" cy="6009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EB658-2763-8555-DA39-E3A4AE714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95132-F36E-73B6-5C38-1551EDE632D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85572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3C5D-F7DA-D9FC-19F8-AE7F25236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Excel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27794-A4E0-8BE0-9193-678F4789415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Executive Dashboard in Microsoft Excel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07A98-2A62-5FD2-CE4B-84C746DD0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Key KPIs Displayed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Total Sales: </a:t>
            </a:r>
            <a:r>
              <a:rPr lang="en-IN" b="1" dirty="0"/>
              <a:t>29.36M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Production Cost: </a:t>
            </a:r>
            <a:r>
              <a:rPr lang="en-IN" b="1" dirty="0"/>
              <a:t>17.28M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Total Profit: </a:t>
            </a:r>
            <a:r>
              <a:rPr lang="en-IN" b="1" dirty="0"/>
              <a:t>12.08M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Profit Margin: </a:t>
            </a:r>
            <a:r>
              <a:rPr lang="en-IN" b="1" dirty="0"/>
              <a:t>41.1%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Orders: </a:t>
            </a:r>
            <a:r>
              <a:rPr lang="en-IN" b="1" dirty="0"/>
              <a:t>28K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Customers: </a:t>
            </a:r>
            <a:r>
              <a:rPr lang="en-IN" b="1" dirty="0"/>
              <a:t>18K</a:t>
            </a:r>
            <a:endParaRPr lang="en-IN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3B46E-4484-074E-98E2-0BC9C9B731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Key Visuals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Year-over-Year Sales vs Production Cost vs Profit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Month-over-Month Sales Trend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Territory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Country-wise Sales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Product Category Contribution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Top 10 Product Subcategories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DD54CB-856B-567A-2FDC-006265D430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Dashboard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Interactive slicers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Dynamic KPI cards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Combination charts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Executive summary layout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106A544-3BD8-E1A5-E297-D1778803FE4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4EE3E3-B6C5-BBE5-3ADA-20800AD0F72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10089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DB68-66DE-CC6E-D299-8F869EF3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Excel Outcomes &amp; Transition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8923E-D5DD-1DB0-7B98-0B07CBAD111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Key Outcomes from Excel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470FA-42CF-6E4E-BBD7-2DE73AED1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Achievements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4C76EC-2C40-AEF1-45A1-B623140099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✔ Cleaned and validated data</a:t>
            </a:r>
          </a:p>
          <a:p>
            <a:pPr>
              <a:buNone/>
            </a:pPr>
            <a:r>
              <a:rPr lang="en-IN" dirty="0"/>
              <a:t>✔ Built calculated metrics</a:t>
            </a:r>
          </a:p>
          <a:p>
            <a:pPr>
              <a:buNone/>
            </a:pPr>
            <a:r>
              <a:rPr lang="en-IN" dirty="0"/>
              <a:t>✔ Created dynamic KPI cards</a:t>
            </a:r>
          </a:p>
          <a:p>
            <a:pPr>
              <a:buNone/>
            </a:pPr>
            <a:r>
              <a:rPr lang="en-IN" dirty="0"/>
              <a:t>✔ Developed interactive dashboard</a:t>
            </a:r>
          </a:p>
          <a:p>
            <a:pPr>
              <a:buNone/>
            </a:pPr>
            <a:r>
              <a:rPr lang="en-IN" dirty="0"/>
              <a:t>✔ Performed trend analysis</a:t>
            </a:r>
          </a:p>
          <a:p>
            <a:pPr>
              <a:buNone/>
            </a:pPr>
            <a:r>
              <a:rPr lang="en-IN" dirty="0"/>
              <a:t>✔ Generated executive reports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44D042-DF84-67EF-265A-ACE1C3834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Why Move to Power BI?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8D2891-A9D0-273E-725D-30DE768853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Although Excel is powerful, Power BI offers: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Better scalability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Interactive drill-through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Advanced DAX calculations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refresh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Richer visualizations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Enterprise-level reporting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E012F-89AD-2D5E-F1EC-0573A9F8D7C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ADB7D-82A5-5F44-540D-EE8A2285F1E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3562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0D8A78A-80CF-880A-7626-FE04D12F86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1618" r="11618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FE38EC-8992-93B2-70B9-B33D0701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Business Intelligence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B7B61-3B97-B807-A8C6-20986308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A8B29-40A5-5E10-7217-05CDC32F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617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FE16-5857-5041-D503-6C95E9BF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Data Modelling &amp; ETL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342DE-BEE5-B140-B8AA-F0FDDE2C6FD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Transform cleaned data into an interactive Business Intelligence solution for executive decision-making.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EF0C5-B6AC-DDC1-6E5A-CFD26728B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Components Used</a:t>
            </a:r>
          </a:p>
          <a:p>
            <a:pPr>
              <a:buNone/>
            </a:pPr>
            <a:r>
              <a:rPr lang="en-IN" b="1" dirty="0"/>
              <a:t>Power Query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Import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Transformation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Column Formatting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Validation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Data Model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Star Schema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Relationships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Cardinality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Cross Filtering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5A004-AB9F-97F8-AA78-2F9990C649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Components Used</a:t>
            </a:r>
          </a:p>
          <a:p>
            <a:pPr>
              <a:buNone/>
            </a:pPr>
            <a:r>
              <a:rPr lang="en-IN" b="1" dirty="0"/>
              <a:t>DAX Measures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Total Sales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Total Profit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Profit Margin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Orders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Customers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Quantity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Average Order Value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E94305-8259-09F2-665B-94B79B91E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Data Flow</a:t>
            </a:r>
          </a:p>
          <a:p>
            <a:r>
              <a:rPr lang="en-IN" dirty="0"/>
              <a:t>MySQL Database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r>
              <a:rPr lang="en-IN" dirty="0"/>
              <a:t> Power Query Editor</a:t>
            </a:r>
          </a:p>
          <a:p>
            <a:pPr marL="0" indent="0">
              <a:buNone/>
            </a:pPr>
            <a:r>
              <a:rPr lang="en-IN" dirty="0"/>
              <a:t>       </a:t>
            </a:r>
          </a:p>
          <a:p>
            <a:r>
              <a:rPr lang="en-IN" dirty="0"/>
              <a:t> Data Cleaning</a:t>
            </a:r>
          </a:p>
          <a:p>
            <a:pPr marL="0" indent="0">
              <a:buNone/>
            </a:pPr>
            <a:r>
              <a:rPr lang="en-IN" dirty="0"/>
              <a:t>       </a:t>
            </a:r>
          </a:p>
          <a:p>
            <a:r>
              <a:rPr lang="en-IN" dirty="0"/>
              <a:t> Star Schema Model</a:t>
            </a:r>
          </a:p>
          <a:p>
            <a:endParaRPr lang="en-IN" dirty="0"/>
          </a:p>
          <a:p>
            <a:r>
              <a:rPr lang="en-IN" dirty="0"/>
              <a:t> DAX Measures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</a:p>
          <a:p>
            <a:r>
              <a:rPr lang="en-IN" dirty="0"/>
              <a:t> Interactive Dashboards</a:t>
            </a:r>
          </a:p>
          <a:p>
            <a:pPr marL="0" indent="0">
              <a:buNone/>
            </a:pPr>
            <a:r>
              <a:rPr lang="en-IN" dirty="0"/>
              <a:t>          </a:t>
            </a:r>
          </a:p>
          <a:p>
            <a:r>
              <a:rPr lang="en-IN" dirty="0"/>
              <a:t> Business Insights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19FE2C-2A8E-5036-B6FE-C3F46C7C513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8190B3-4E18-8307-F607-44CF8F92DF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20</a:t>
            </a:fld>
            <a:endParaRPr lang="en-US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BDBA54-4867-CA75-B4C2-9C21531F8D4D}"/>
              </a:ext>
            </a:extLst>
          </p:cNvPr>
          <p:cNvCxnSpPr/>
          <p:nvPr/>
        </p:nvCxnSpPr>
        <p:spPr>
          <a:xfrm>
            <a:off x="9118121" y="5509404"/>
            <a:ext cx="0" cy="258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D55623-C7B2-1876-218B-68E3C630228E}"/>
              </a:ext>
            </a:extLst>
          </p:cNvPr>
          <p:cNvCxnSpPr/>
          <p:nvPr/>
        </p:nvCxnSpPr>
        <p:spPr>
          <a:xfrm>
            <a:off x="9118121" y="4839418"/>
            <a:ext cx="0" cy="258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66D6B8-0098-48E6-F849-D8D2F6ADBD22}"/>
              </a:ext>
            </a:extLst>
          </p:cNvPr>
          <p:cNvCxnSpPr/>
          <p:nvPr/>
        </p:nvCxnSpPr>
        <p:spPr>
          <a:xfrm>
            <a:off x="9118121" y="4137804"/>
            <a:ext cx="0" cy="258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08FC99-2B5F-4AFB-012F-B1ED4801DA3F}"/>
              </a:ext>
            </a:extLst>
          </p:cNvPr>
          <p:cNvCxnSpPr/>
          <p:nvPr/>
        </p:nvCxnSpPr>
        <p:spPr>
          <a:xfrm>
            <a:off x="9118121" y="3429000"/>
            <a:ext cx="0" cy="258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4351B4-7A70-2BC9-1D6A-3324D26BA1E7}"/>
              </a:ext>
            </a:extLst>
          </p:cNvPr>
          <p:cNvCxnSpPr/>
          <p:nvPr/>
        </p:nvCxnSpPr>
        <p:spPr>
          <a:xfrm>
            <a:off x="9118121" y="2780582"/>
            <a:ext cx="0" cy="258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8BE921-0C83-FE13-4080-39733A99717A}"/>
              </a:ext>
            </a:extLst>
          </p:cNvPr>
          <p:cNvCxnSpPr/>
          <p:nvPr/>
        </p:nvCxnSpPr>
        <p:spPr>
          <a:xfrm>
            <a:off x="9118121" y="2153728"/>
            <a:ext cx="0" cy="258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12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77192A-5BEF-EA55-A443-CED6341A2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000" y="270294"/>
            <a:ext cx="11253917" cy="59209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1C108-50C0-B000-F757-1F32C7FBA1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583A0-A40F-2019-E77E-403AF0F2832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9661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6AB1-EBDB-C877-86F4-67BD0939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Executive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645FA-1DEB-57A0-2950-DFE433916C8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Executive Dashboard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6DFC8-90B2-1F8B-EAC8-918D64511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Executive KPIs</a:t>
            </a:r>
          </a:p>
          <a:p>
            <a:pPr>
              <a:buNone/>
            </a:pPr>
            <a:r>
              <a:rPr lang="en-IN" dirty="0"/>
              <a:t>💰 Total Sales</a:t>
            </a:r>
          </a:p>
          <a:p>
            <a:pPr>
              <a:buNone/>
            </a:pPr>
            <a:r>
              <a:rPr lang="en-IN" dirty="0"/>
              <a:t>💵 Total Production Cost</a:t>
            </a:r>
          </a:p>
          <a:p>
            <a:pPr>
              <a:buNone/>
            </a:pPr>
            <a:r>
              <a:rPr lang="en-IN" dirty="0"/>
              <a:t>📈 Total Profit</a:t>
            </a:r>
          </a:p>
          <a:p>
            <a:pPr>
              <a:buNone/>
            </a:pPr>
            <a:r>
              <a:rPr lang="en-IN" dirty="0"/>
              <a:t>📊 Profit Margin</a:t>
            </a:r>
          </a:p>
          <a:p>
            <a:pPr>
              <a:buNone/>
            </a:pPr>
            <a:r>
              <a:rPr lang="en-IN" dirty="0"/>
              <a:t>📦 Total Quantity</a:t>
            </a:r>
          </a:p>
          <a:p>
            <a:pPr>
              <a:buNone/>
            </a:pPr>
            <a:r>
              <a:rPr lang="en-IN" dirty="0"/>
              <a:t>👥 Customers</a:t>
            </a:r>
          </a:p>
          <a:p>
            <a:pPr>
              <a:buNone/>
            </a:pPr>
            <a:r>
              <a:rPr lang="en-IN" dirty="0"/>
              <a:t>🛒 Orders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D11B2-A472-A5EA-AA32-C00F80ABEE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Dashboard 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KPI Cards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Monthly Sales Trend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Country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Subcategory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by Occupation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Slicers for Year, Country, Product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D0BCD2-E16E-8561-F573-17C384005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Business Value</a:t>
            </a:r>
          </a:p>
          <a:p>
            <a:r>
              <a:rPr lang="en-IN" dirty="0"/>
              <a:t>Provides executives with a single-page overview of business performance.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1C27C4-5E56-0C80-B48E-15C0DDA416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2A421D-22C8-0D25-F726-963F2129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3666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90D4DD-971D-FE2E-47C6-BC37796A0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083" y="326210"/>
            <a:ext cx="11145328" cy="5762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5C29B-28F4-E18C-D1AB-5E1B3076FA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0BD5E-7397-04B3-6F33-E28D7CEDF9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3866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43FF-D856-AB08-686E-39B9981A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Performance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1B860-6278-7529-58B3-E13C4D691F4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Product Performance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03001-18C8-B3C7-33F6-2C98DF447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KPIs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Top Performing 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Revenue by Product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Profit by Product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Category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Subcategory Analysis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3A31A-18BD-CC64-6CC1-C2898635EF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Business Questions Answered</a:t>
            </a:r>
          </a:p>
          <a:p>
            <a:pPr>
              <a:buNone/>
            </a:pPr>
            <a:r>
              <a:rPr lang="en-IN" dirty="0"/>
              <a:t>✔ Which products generate maximum revenue?</a:t>
            </a:r>
          </a:p>
          <a:p>
            <a:pPr>
              <a:buNone/>
            </a:pPr>
            <a:r>
              <a:rPr lang="en-IN" dirty="0"/>
              <a:t>✔ Which products generate highest profit?</a:t>
            </a:r>
          </a:p>
          <a:p>
            <a:pPr>
              <a:buNone/>
            </a:pPr>
            <a:r>
              <a:rPr lang="en-IN" dirty="0"/>
              <a:t>✔ Which categories need improvement?</a:t>
            </a:r>
          </a:p>
          <a:p>
            <a:pPr>
              <a:buNone/>
            </a:pPr>
            <a:r>
              <a:rPr lang="en-IN" dirty="0"/>
              <a:t>✔ Which products contribute least?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7E9593-394A-6F5B-3570-73C083583E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Management Benefits</a:t>
            </a:r>
          </a:p>
          <a:p>
            <a:r>
              <a:rPr lang="en-IN" dirty="0"/>
              <a:t>Inventory Planning</a:t>
            </a:r>
          </a:p>
          <a:p>
            <a:r>
              <a:rPr lang="en-IN" dirty="0"/>
              <a:t>Demand Forecasting</a:t>
            </a:r>
          </a:p>
          <a:p>
            <a:r>
              <a:rPr lang="en-IN" dirty="0"/>
              <a:t>Product Strategy</a:t>
            </a:r>
          </a:p>
          <a:p>
            <a:r>
              <a:rPr lang="en-IN" dirty="0"/>
              <a:t>Pricing Decisions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828F8F-958B-2A87-AB41-E540124D238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2B3FD3-C62C-F56F-EB8E-529EE9BF5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468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9CE4B8-AC07-888F-80BE-AF13B95CB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34" y="348435"/>
            <a:ext cx="11202838" cy="57817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30FDA-3141-C5D5-3F90-87C24A3F35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E29EE-4E9D-7932-1FE9-B9A6ACE86F8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7322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8895-A8E0-FF7E-185D-BDD8F1AD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Analysis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F3719-90F1-BD68-9730-4D9106EB2F7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Sales Trend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5D952-A01B-279C-0A15-438E6DB78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Dashboard Highlights</a:t>
            </a:r>
          </a:p>
          <a:p>
            <a:r>
              <a:rPr lang="en-IN" dirty="0"/>
              <a:t>Monthly Trend</a:t>
            </a:r>
          </a:p>
          <a:p>
            <a:r>
              <a:rPr lang="en-IN" dirty="0"/>
              <a:t>Yearly Trend</a:t>
            </a:r>
          </a:p>
          <a:p>
            <a:r>
              <a:rPr lang="en-IN" dirty="0"/>
              <a:t>Seasonality</a:t>
            </a:r>
          </a:p>
          <a:p>
            <a:r>
              <a:rPr lang="en-IN" dirty="0"/>
              <a:t>Category Trend</a:t>
            </a:r>
          </a:p>
          <a:p>
            <a:r>
              <a:rPr lang="en-IN" dirty="0"/>
              <a:t>Profit Trend</a:t>
            </a:r>
          </a:p>
          <a:p>
            <a:r>
              <a:rPr lang="en-IN" dirty="0"/>
              <a:t>Sales Growth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D3DFC-DC5C-CF91-37AE-5E55506D6E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Business Questions</a:t>
            </a:r>
          </a:p>
          <a:p>
            <a:r>
              <a:rPr lang="en-IN" dirty="0"/>
              <a:t>How are sales changing over time?</a:t>
            </a:r>
          </a:p>
          <a:p>
            <a:r>
              <a:rPr lang="en-IN" dirty="0"/>
              <a:t>Which months perform best?</a:t>
            </a:r>
          </a:p>
          <a:p>
            <a:r>
              <a:rPr lang="en-IN" dirty="0"/>
              <a:t>Which categories drive growth?</a:t>
            </a:r>
          </a:p>
          <a:p>
            <a:r>
              <a:rPr lang="en-IN" dirty="0"/>
              <a:t>How is profit trending?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157CEA-4524-A233-922E-D5459435E7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Benefits</a:t>
            </a:r>
          </a:p>
          <a:p>
            <a:r>
              <a:rPr lang="en-IN" dirty="0"/>
              <a:t>Sales Planning</a:t>
            </a:r>
          </a:p>
          <a:p>
            <a:r>
              <a:rPr lang="en-IN" dirty="0"/>
              <a:t>Demand Forecasting</a:t>
            </a:r>
          </a:p>
          <a:p>
            <a:r>
              <a:rPr lang="en-IN" dirty="0"/>
              <a:t>Budget Allocation</a:t>
            </a:r>
          </a:p>
          <a:p>
            <a:r>
              <a:rPr lang="en-IN" dirty="0"/>
              <a:t>Performance Monitoring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62360F-65DE-FCF3-E904-CF54817C25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11CAA1-B328-67C9-5843-C2BBC45296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8422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FF49A9-D32C-CC03-A3D7-61ECE6180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000" y="390504"/>
            <a:ext cx="11282672" cy="5743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A623E-09F5-BA77-2587-344B1914E2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FDD2A-6CF2-6108-8539-97987F916D2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48010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5163-A717-F49E-3F3B-7B64F214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&amp; Regional Intelligence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D9DD3-B6C8-C819-3213-A2196B9E43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Customer &amp; Regional Intelligence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F429A-60AE-9848-8798-26082C008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Customer Analysis</a:t>
            </a:r>
          </a:p>
          <a:p>
            <a:r>
              <a:rPr lang="en-IN" dirty="0"/>
              <a:t>Top Customers</a:t>
            </a:r>
          </a:p>
          <a:p>
            <a:r>
              <a:rPr lang="en-IN" dirty="0"/>
              <a:t>Occupation</a:t>
            </a:r>
          </a:p>
          <a:p>
            <a:r>
              <a:rPr lang="en-IN" dirty="0"/>
              <a:t>Income Level</a:t>
            </a:r>
          </a:p>
          <a:p>
            <a:r>
              <a:rPr lang="en-IN" dirty="0"/>
              <a:t>Gender</a:t>
            </a:r>
          </a:p>
          <a:p>
            <a:r>
              <a:rPr lang="en-IN" dirty="0"/>
              <a:t>Age Group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23703-496D-EA3D-96BB-B3BAE7D5C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Regional Analysis</a:t>
            </a:r>
          </a:p>
          <a:p>
            <a:r>
              <a:rPr lang="en-IN" dirty="0"/>
              <a:t>Country</a:t>
            </a:r>
          </a:p>
          <a:p>
            <a:r>
              <a:rPr lang="en-IN" dirty="0"/>
              <a:t>Sales Territory</a:t>
            </a:r>
          </a:p>
          <a:p>
            <a:r>
              <a:rPr lang="en-IN" dirty="0"/>
              <a:t>Region</a:t>
            </a:r>
          </a:p>
          <a:p>
            <a:r>
              <a:rPr lang="en-IN" dirty="0"/>
              <a:t>Revenue</a:t>
            </a:r>
          </a:p>
          <a:p>
            <a:r>
              <a:rPr lang="en-IN" dirty="0"/>
              <a:t>Profit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C96915-9819-9D5F-1587-A25F2BC290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Business Insights</a:t>
            </a:r>
          </a:p>
          <a:p>
            <a:pPr>
              <a:buNone/>
            </a:pPr>
            <a:r>
              <a:rPr lang="en-IN" dirty="0"/>
              <a:t>✔ Best-performing countries</a:t>
            </a:r>
          </a:p>
          <a:p>
            <a:pPr>
              <a:buNone/>
            </a:pPr>
            <a:r>
              <a:rPr lang="en-IN" dirty="0"/>
              <a:t>✔ Customer segmentation</a:t>
            </a:r>
          </a:p>
          <a:p>
            <a:pPr>
              <a:buNone/>
            </a:pPr>
            <a:r>
              <a:rPr lang="en-IN" dirty="0"/>
              <a:t>✔ Regional profitability</a:t>
            </a:r>
          </a:p>
          <a:p>
            <a:pPr>
              <a:buNone/>
            </a:pPr>
            <a:r>
              <a:rPr lang="en-IN" dirty="0"/>
              <a:t>✔ Sales distribution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B6D6B4-7DFB-4CD1-AB7D-02B7D0D8AC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5698F7-0D49-0E83-58AB-9473AC87CD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0660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B42A-9826-91C0-8C4D-8FA3BBC1F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DAX Measures &amp; Business KPIs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9BA15-2616-3725-86DB-FF8488DE6DD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DAX Measures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5D09F-E115-7AF7-A060-34FF132D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Core Measures</a:t>
            </a:r>
            <a:endParaRPr lang="en-US" sz="2000" b="1" dirty="0"/>
          </a:p>
          <a:p>
            <a:r>
              <a:rPr lang="en-US" dirty="0"/>
              <a:t>Total Sales</a:t>
            </a:r>
          </a:p>
          <a:p>
            <a:r>
              <a:rPr lang="en-US" dirty="0"/>
              <a:t>Total Profit</a:t>
            </a:r>
          </a:p>
          <a:p>
            <a:r>
              <a:rPr lang="en-US" dirty="0"/>
              <a:t>Total Orders</a:t>
            </a:r>
          </a:p>
          <a:p>
            <a:r>
              <a:rPr lang="en-US" dirty="0"/>
              <a:t>Profit Margin %</a:t>
            </a:r>
          </a:p>
          <a:p>
            <a:r>
              <a:rPr lang="en-US" dirty="0"/>
              <a:t>Average Order Value</a:t>
            </a:r>
          </a:p>
          <a:p>
            <a:r>
              <a:rPr lang="en-US" dirty="0"/>
              <a:t>Sales Growth</a:t>
            </a:r>
          </a:p>
          <a:p>
            <a:r>
              <a:rPr lang="en-US" dirty="0"/>
              <a:t>Customer Count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85C1-49BA-24FB-4B81-B79174BE30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Why DAX?</a:t>
            </a:r>
          </a:p>
          <a:p>
            <a:r>
              <a:rPr lang="en-IN" dirty="0"/>
              <a:t>Dynamic Calculations</a:t>
            </a:r>
          </a:p>
          <a:p>
            <a:r>
              <a:rPr lang="en-IN" dirty="0"/>
              <a:t>Interactive KPIs</a:t>
            </a:r>
          </a:p>
          <a:p>
            <a:r>
              <a:rPr lang="en-IN" dirty="0"/>
              <a:t>Fast Aggregations</a:t>
            </a:r>
          </a:p>
          <a:p>
            <a:r>
              <a:rPr lang="en-IN" dirty="0"/>
              <a:t>Filter Context</a:t>
            </a:r>
          </a:p>
          <a:p>
            <a:r>
              <a:rPr lang="en-IN" dirty="0"/>
              <a:t>Time Intelligence</a:t>
            </a:r>
          </a:p>
          <a:p>
            <a:r>
              <a:rPr lang="en-IN" dirty="0"/>
              <a:t>Reusable Measures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40D3C5-F186-ADE0-6206-832517BBB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KPI Cards</a:t>
            </a:r>
          </a:p>
          <a:p>
            <a:r>
              <a:rPr lang="en-IN" dirty="0"/>
              <a:t>Total Sales</a:t>
            </a:r>
          </a:p>
          <a:p>
            <a:r>
              <a:rPr lang="en-IN" dirty="0"/>
              <a:t>Profit</a:t>
            </a:r>
          </a:p>
          <a:p>
            <a:r>
              <a:rPr lang="en-IN" dirty="0"/>
              <a:t>Margin</a:t>
            </a:r>
          </a:p>
          <a:p>
            <a:r>
              <a:rPr lang="en-IN" dirty="0"/>
              <a:t>Orders</a:t>
            </a:r>
          </a:p>
          <a:p>
            <a:r>
              <a:rPr lang="en-IN" dirty="0"/>
              <a:t>Customers</a:t>
            </a:r>
          </a:p>
          <a:p>
            <a:r>
              <a:rPr lang="en-IN" dirty="0"/>
              <a:t>Quantity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9E9199-05EC-0FFA-1DA4-6D89A9745D9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89C519-F70D-6280-2EB9-6896EF8629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1945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5E77A60-E7FF-ED18-098C-6660D22489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1618" r="11618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9EAA3D-8CA2-4872-B6E1-56FDC966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Tableau Business Analytics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7BA95-FE9C-55F7-6DE5-C44816751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7BED4-C81E-38A4-9CD9-D9CCA8AE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0219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227E89-7758-0474-8A28-3BC0DFD37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000" y="184030"/>
            <a:ext cx="11225161" cy="60072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EF9B8-E421-31FE-2B87-E435C51198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B3284-6285-2D7D-183B-41828EEC7E3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159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D27C-97C1-BA5D-2EED-C62E0260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Tableau Business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ADF3F-06E5-47AB-D779-C5C846F7133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Interactive Dashboard in Tableau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E29AE-B491-6D77-2D61-B8F387F2B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Dashboard Components</a:t>
            </a:r>
          </a:p>
          <a:p>
            <a:r>
              <a:rPr lang="en-IN" dirty="0"/>
              <a:t>KPI Cards</a:t>
            </a:r>
          </a:p>
          <a:p>
            <a:r>
              <a:rPr lang="en-IN" dirty="0"/>
              <a:t>Sales Trend</a:t>
            </a:r>
          </a:p>
          <a:p>
            <a:r>
              <a:rPr lang="en-IN" dirty="0"/>
              <a:t>Regional Analysis</a:t>
            </a:r>
          </a:p>
          <a:p>
            <a:r>
              <a:rPr lang="en-IN" dirty="0"/>
              <a:t>Category Performance</a:t>
            </a:r>
          </a:p>
          <a:p>
            <a:r>
              <a:rPr lang="en-IN" dirty="0"/>
              <a:t>Customer Insights</a:t>
            </a:r>
          </a:p>
          <a:p>
            <a:r>
              <a:rPr lang="en-IN" dirty="0"/>
              <a:t>Filters</a:t>
            </a:r>
          </a:p>
          <a:p>
            <a:r>
              <a:rPr lang="en-IN" dirty="0"/>
              <a:t>Parameters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A623D-5E63-5A5C-F438-4242DF878F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Interactive Features</a:t>
            </a:r>
          </a:p>
          <a:p>
            <a:pPr marL="0" indent="0">
              <a:buNone/>
            </a:pPr>
            <a:r>
              <a:rPr lang="en-IN" dirty="0"/>
              <a:t>✔ Dynamic Filters</a:t>
            </a:r>
          </a:p>
          <a:p>
            <a:pPr marL="0" indent="0">
              <a:buNone/>
            </a:pPr>
            <a:r>
              <a:rPr lang="en-IN" dirty="0"/>
              <a:t>✔ Drill-down Analysis</a:t>
            </a:r>
          </a:p>
          <a:p>
            <a:pPr marL="0" indent="0">
              <a:buNone/>
            </a:pPr>
            <a:r>
              <a:rPr lang="en-IN" dirty="0"/>
              <a:t>✔ Parameters</a:t>
            </a:r>
          </a:p>
          <a:p>
            <a:pPr marL="0" indent="0">
              <a:buNone/>
            </a:pPr>
            <a:r>
              <a:rPr lang="en-IN" dirty="0"/>
              <a:t>✔ Interactive Charts</a:t>
            </a:r>
          </a:p>
          <a:p>
            <a:pPr marL="0" indent="0">
              <a:buNone/>
            </a:pPr>
            <a:r>
              <a:rPr lang="en-IN" dirty="0"/>
              <a:t>✔ Tooltips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CA324B-042D-519B-6A06-7CAEC95CF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Business Value</a:t>
            </a:r>
          </a:p>
          <a:p>
            <a:r>
              <a:rPr lang="en-IN" dirty="0"/>
              <a:t>Provides an alternative interactive visualization platform with strong exploratory analytics capabilities.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74BA2B-BFF3-C3C3-6E9E-6711CF1E655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4662E0-27E2-00D3-010B-43580FD9FD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7519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0B53-EF0C-BB4E-82F3-68612691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vs Tableau Comparison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9ABBA-E570-1A88-AA34-56D02315F2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E343B-1703-CB4D-D2F6-D0DA72D1604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33</a:t>
            </a:fld>
            <a:endParaRPr lang="en-US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9FB9986-3110-FC6B-D108-BD04BDA814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57791092"/>
              </p:ext>
            </p:extLst>
          </p:nvPr>
        </p:nvGraphicFramePr>
        <p:xfrm>
          <a:off x="6311900" y="1161691"/>
          <a:ext cx="5459412" cy="3881888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1819804">
                  <a:extLst>
                    <a:ext uri="{9D8B030D-6E8A-4147-A177-3AD203B41FA5}">
                      <a16:colId xmlns:a16="http://schemas.microsoft.com/office/drawing/2014/main" val="1215132843"/>
                    </a:ext>
                  </a:extLst>
                </a:gridCol>
                <a:gridCol w="1819804">
                  <a:extLst>
                    <a:ext uri="{9D8B030D-6E8A-4147-A177-3AD203B41FA5}">
                      <a16:colId xmlns:a16="http://schemas.microsoft.com/office/drawing/2014/main" val="4030658178"/>
                    </a:ext>
                  </a:extLst>
                </a:gridCol>
                <a:gridCol w="1819804">
                  <a:extLst>
                    <a:ext uri="{9D8B030D-6E8A-4147-A177-3AD203B41FA5}">
                      <a16:colId xmlns:a16="http://schemas.microsoft.com/office/drawing/2014/main" val="911571807"/>
                    </a:ext>
                  </a:extLst>
                </a:gridCol>
              </a:tblGrid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Feature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Power BI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Tableau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2373797787"/>
                  </a:ext>
                </a:extLst>
              </a:tr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Data Modeling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⭐⭐⭐⭐⭐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639366179"/>
                  </a:ext>
                </a:extLst>
              </a:tr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DAX Calculations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⭐⭐⭐⭐⭐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2331414452"/>
                  </a:ext>
                </a:extLst>
              </a:tr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Dashboard Design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⭐⭐⭐⭐⭐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⭐⭐⭐⭐⭐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3130609371"/>
                  </a:ext>
                </a:extLst>
              </a:tr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Data Visualization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⭐⭐⭐⭐⭐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2688890128"/>
                  </a:ext>
                </a:extLst>
              </a:tr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Ease of Use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3235276564"/>
                  </a:ext>
                </a:extLst>
              </a:tr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Enterprise Reporting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⭐⭐⭐⭐⭐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4213522481"/>
                  </a:ext>
                </a:extLst>
              </a:tr>
              <a:tr h="48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Cost Effectiveness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⭐⭐⭐⭐⭐</a:t>
                      </a:r>
                    </a:p>
                  </a:txBody>
                  <a:tcPr marL="44067" marR="44067" marT="22034" marB="220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⭐⭐⭐</a:t>
                      </a:r>
                    </a:p>
                  </a:txBody>
                  <a:tcPr marL="44067" marR="44067" marT="22034" marB="22034" anchor="ctr"/>
                </a:tc>
                <a:extLst>
                  <a:ext uri="{0D108BD9-81ED-4DB2-BD59-A6C34878D82A}">
                    <a16:rowId xmlns:a16="http://schemas.microsoft.com/office/drawing/2014/main" val="992508216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55734-2640-F45C-38F0-81BE330A4F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Project Experience</a:t>
            </a:r>
          </a:p>
          <a:p>
            <a:pPr>
              <a:buNone/>
            </a:pPr>
            <a:r>
              <a:rPr lang="en-IN" b="1" dirty="0"/>
              <a:t>Power BI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Strong data modelling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Powerful DAX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Excellent KPI reporting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Enterprise dashboards </a:t>
            </a:r>
          </a:p>
          <a:p>
            <a:pPr>
              <a:buNone/>
            </a:pPr>
            <a:r>
              <a:rPr lang="en-IN" b="1" dirty="0"/>
              <a:t>Tableau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Superior visual storytelling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Excellent interactivity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Rich visualization library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Strong exploratory analysis</a:t>
            </a:r>
          </a:p>
        </p:txBody>
      </p:sp>
    </p:spTree>
    <p:extLst>
      <p:ext uri="{BB962C8B-B14F-4D97-AF65-F5344CB8AC3E}">
        <p14:creationId xmlns:p14="http://schemas.microsoft.com/office/powerpoint/2010/main" val="2435747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Woman on laptop smiling">
            <a:extLst>
              <a:ext uri="{FF2B5EF4-FFF2-40B4-BE49-F238E27FC236}">
                <a16:creationId xmlns:a16="http://schemas.microsoft.com/office/drawing/2014/main" id="{35E3CE9E-B03C-CB4B-A83A-D3265C7A0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/>
          <a:lstStyle/>
          <a:p>
            <a:r>
              <a:rPr lang="en-IN" sz="4800" dirty="0"/>
              <a:t>Business Insights, Recommendations &amp; Conclusion</a:t>
            </a:r>
            <a:endParaRPr lang="en-US" sz="4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BC6A-CAFE-703E-80AD-69B10429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Business Performance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6F7EE-88F8-83FB-8D65-FD2AE067991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D28CF-0364-3BB9-0D40-BE822543B43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AA163-B333-5F1C-D478-DD50CE9F8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KPI Cards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F620E-7CCB-4E84-09E6-11A8462F4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82761E-2FD1-6B44-0D58-24B28C4AB60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0"/>
            <a:r>
              <a:rPr lang="en-IN" dirty="0"/>
              <a:t>Strong overall sales performance </a:t>
            </a:r>
          </a:p>
          <a:p>
            <a:pPr lvl="0"/>
            <a:r>
              <a:rPr lang="en-IN" dirty="0"/>
              <a:t>Healthy profit margin </a:t>
            </a:r>
          </a:p>
          <a:p>
            <a:pPr lvl="0"/>
            <a:r>
              <a:rPr lang="en-IN" dirty="0"/>
              <a:t>Consistent customer growth </a:t>
            </a:r>
          </a:p>
          <a:p>
            <a:pPr lvl="0"/>
            <a:r>
              <a:rPr lang="en-IN" dirty="0"/>
              <a:t>Global sales presence </a:t>
            </a:r>
          </a:p>
          <a:p>
            <a:pPr lvl="0"/>
            <a:r>
              <a:rPr lang="en-IN" dirty="0"/>
              <a:t>High-performing product portfolio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56E4DC1-9F15-9DD9-79A2-5860E4723E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2493547"/>
              </p:ext>
            </p:extLst>
          </p:nvPr>
        </p:nvGraphicFramePr>
        <p:xfrm>
          <a:off x="431800" y="1955730"/>
          <a:ext cx="5448300" cy="4233933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2724150">
                  <a:extLst>
                    <a:ext uri="{9D8B030D-6E8A-4147-A177-3AD203B41FA5}">
                      <a16:colId xmlns:a16="http://schemas.microsoft.com/office/drawing/2014/main" val="100251821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430308375"/>
                    </a:ext>
                  </a:extLst>
                </a:gridCol>
              </a:tblGrid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KPI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Value</a:t>
                      </a:r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180534525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💰 Total Sales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$29.36M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2068574007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💵 Total Production Cost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$17.28M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3446392979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📈 Total Profit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$12.08M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1515390332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📊 Profit Margin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41.15%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3717178139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👥 Customers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18K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635766751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🛒 Orders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28K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3446480301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📦 Quantity Sold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60K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954602976"/>
                  </a:ext>
                </a:extLst>
              </a:tr>
              <a:tr h="4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💲 Average Order Value</a:t>
                      </a:r>
                    </a:p>
                  </a:txBody>
                  <a:tcPr marL="43977" marR="43977" marT="21989" marB="219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$1.06K</a:t>
                      </a:r>
                      <a:endParaRPr lang="en-IN" sz="1400" dirty="0"/>
                    </a:p>
                  </a:txBody>
                  <a:tcPr marL="43977" marR="43977" marT="21989" marB="21989" anchor="ctr"/>
                </a:tc>
                <a:extLst>
                  <a:ext uri="{0D108BD9-81ED-4DB2-BD59-A6C34878D82A}">
                    <a16:rowId xmlns:a16="http://schemas.microsoft.com/office/drawing/2014/main" val="322892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426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C4C4-A1CD-4A27-0F43-FED3D7D7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34007-97EC-F015-E4B1-3E5DB16565C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b="1" dirty="0"/>
              <a:t>Business Insights Generated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F32B-03E8-6555-F3FB-F241A5F65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Sales Insights</a:t>
            </a:r>
          </a:p>
          <a:p>
            <a:r>
              <a:rPr lang="en-IN" dirty="0"/>
              <a:t>📈 Sales exceeded </a:t>
            </a:r>
            <a:r>
              <a:rPr lang="en-IN" b="1" dirty="0"/>
              <a:t>$29 million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Profitability</a:t>
            </a:r>
          </a:p>
          <a:p>
            <a:r>
              <a:rPr lang="en-IN" dirty="0"/>
              <a:t>💰 Profit margin remained above </a:t>
            </a:r>
            <a:r>
              <a:rPr lang="en-IN" b="1" dirty="0"/>
              <a:t>41%</a:t>
            </a:r>
            <a:r>
              <a:rPr lang="en-IN" dirty="0"/>
              <a:t>, indicating strong operational efficiency.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Product Insights</a:t>
            </a:r>
          </a:p>
          <a:p>
            <a:r>
              <a:rPr lang="en-IN" dirty="0"/>
              <a:t>🏆 Bikes contribute the highest share of revenue.</a:t>
            </a:r>
          </a:p>
          <a:p>
            <a:r>
              <a:rPr lang="en-IN" dirty="0"/>
              <a:t>Accessories offer additional cross-selling opportunities.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Regional Insights</a:t>
            </a:r>
          </a:p>
          <a:p>
            <a:r>
              <a:rPr lang="en-IN" dirty="0"/>
              <a:t>🌍 Australia and the United States are the strongest performing markets.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Customer Insights</a:t>
            </a:r>
          </a:p>
          <a:p>
            <a:r>
              <a:rPr lang="en-IN" dirty="0"/>
              <a:t>👥 Professional customers generate the highest sales.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Time Analysis</a:t>
            </a:r>
          </a:p>
          <a:p>
            <a:r>
              <a:rPr lang="en-IN" dirty="0"/>
              <a:t>📅 2013 was the best-performing year.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9AD5-F912-CF14-9D3E-0402E618F8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08C58-C3D8-63D5-AD00-3CBB7278AA3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8121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14B0-81EA-C8E3-8192-B7D56F20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D3B86-ECE7-BDA5-C3A4-355606C53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IN" b="1" dirty="0"/>
              <a:t>Recommendation 1</a:t>
            </a:r>
          </a:p>
          <a:p>
            <a:r>
              <a:rPr lang="en-IN" dirty="0"/>
              <a:t>Increase inventory for high-performing bicycle products.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Recommendation 2</a:t>
            </a:r>
          </a:p>
          <a:p>
            <a:r>
              <a:rPr lang="en-IN" dirty="0"/>
              <a:t>Expand marketing campaigns in Australia and North America.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Recommendation 3</a:t>
            </a:r>
          </a:p>
          <a:p>
            <a:r>
              <a:rPr lang="en-IN" dirty="0"/>
              <a:t>Offer loyalty programs for high-value customers.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Recommendation 4</a:t>
            </a:r>
          </a:p>
          <a:p>
            <a:r>
              <a:rPr lang="en-IN" dirty="0"/>
              <a:t>Promote premium products to increase average order value.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Recommendation 5</a:t>
            </a:r>
          </a:p>
          <a:p>
            <a:r>
              <a:rPr lang="en-IN" dirty="0"/>
              <a:t>Use demand forecasting to improve inventory planning.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Recommendation 6</a:t>
            </a:r>
          </a:p>
          <a:p>
            <a:r>
              <a:rPr lang="en-IN" dirty="0"/>
              <a:t>Monitor low-performing categories and optimize pricing strategies.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Expected Business Benefits</a:t>
            </a:r>
          </a:p>
          <a:p>
            <a:pPr lvl="0"/>
            <a:r>
              <a:rPr lang="en-IN" dirty="0"/>
              <a:t>Increased revenue </a:t>
            </a:r>
          </a:p>
          <a:p>
            <a:pPr lvl="0"/>
            <a:r>
              <a:rPr lang="en-IN" dirty="0"/>
              <a:t>Improved customer retention </a:t>
            </a:r>
          </a:p>
          <a:p>
            <a:pPr lvl="0"/>
            <a:r>
              <a:rPr lang="en-IN" dirty="0"/>
              <a:t>Better inventory management </a:t>
            </a:r>
          </a:p>
          <a:p>
            <a:pPr lvl="0"/>
            <a:r>
              <a:rPr lang="en-IN" dirty="0"/>
              <a:t>Higher profitability </a:t>
            </a:r>
          </a:p>
          <a:p>
            <a:pPr lvl="0"/>
            <a:r>
              <a:rPr lang="en-IN" dirty="0"/>
              <a:t>More effective decision-making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97E06-0DA7-3772-A867-3AED539BC7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05EE0-759C-FF03-2214-1669CA83908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17109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6FC0-9540-7411-5658-88BFD515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A1A98-C0C3-898B-55B7-FC954B49FAF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Challenges Faced During the Project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C513700-8778-EE29-3CA1-150F9DBEF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220696"/>
              </p:ext>
            </p:extLst>
          </p:nvPr>
        </p:nvGraphicFramePr>
        <p:xfrm>
          <a:off x="431800" y="1454990"/>
          <a:ext cx="11328400" cy="4395013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5664200">
                  <a:extLst>
                    <a:ext uri="{9D8B030D-6E8A-4147-A177-3AD203B41FA5}">
                      <a16:colId xmlns:a16="http://schemas.microsoft.com/office/drawing/2014/main" val="815187366"/>
                    </a:ext>
                  </a:extLst>
                </a:gridCol>
                <a:gridCol w="5664200">
                  <a:extLst>
                    <a:ext uri="{9D8B030D-6E8A-4147-A177-3AD203B41FA5}">
                      <a16:colId xmlns:a16="http://schemas.microsoft.com/office/drawing/2014/main" val="2685402651"/>
                    </a:ext>
                  </a:extLst>
                </a:gridCol>
              </a:tblGrid>
              <a:tr h="62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573702"/>
                  </a:ext>
                </a:extLst>
              </a:tr>
              <a:tr h="62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Importing large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MySQL for structured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127935"/>
                  </a:ext>
                </a:extLst>
              </a:tr>
              <a:tr h="62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inconsistencies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in Excel &amp; Power 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411044"/>
                  </a:ext>
                </a:extLst>
              </a:tr>
              <a:tr h="62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Relationship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Designed Star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286857"/>
                  </a:ext>
                </a:extLst>
              </a:tr>
              <a:tr h="62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calculations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Implemented DAX measures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042401"/>
                  </a:ext>
                </a:extLst>
              </a:tr>
              <a:tr h="62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data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024800"/>
                  </a:ext>
                </a:extLst>
              </a:tr>
              <a:tr h="62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Power BI and Tableau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64093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F7A51-8BFA-0ABB-7D8F-A9B6FFB4B8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1113B-63A8-3CAB-9B1E-12F1FF832E1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2440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2816-E5C8-D00B-C333-E859B668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Skills Applied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C4BE2-AD39-5CAA-C942-50FE64C6805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Skills Demonstrated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BD8E7-D63B-9422-E854-D7546053A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Database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MySQL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Relational Database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Star Schema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FB237-8D36-350C-41D7-6C0F5F788B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Data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Microsoft Excel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Pivot Tables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Advanced Formulas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Cleaning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02ABEB-55CF-9740-701A-5A9F0BFBB3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Business Intelligence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Power BI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Power Query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Modeling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Interactive Dashboards</a:t>
            </a: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24B805-2601-7C34-FBBA-0EF0551C37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Tableau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Dashboard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Storytelling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KPI Reporting</a:t>
            </a:r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6CE20D-E17C-07E1-2E22-822017E16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Soft Skills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Business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Problem Solving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 Storytelling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Presentation Skills</a:t>
            </a:r>
          </a:p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DF61C8-13A2-11A6-8EC7-6C3E71E490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B416E9-BAF4-06D5-0BC7-0825ECEB301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25709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458A-57F4-11D9-269F-B67CB462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Achievements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48BF8-4B00-0D08-BCC1-D2B47154238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2F6F9-DE1E-197C-6B55-CC6287C95CA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E2208-1073-EDD6-9A6E-2DBF6BD53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Successfully Completed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6C2AF-4B06-7F3F-6C64-F6944D44C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Deliverables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F64151-20C2-8D48-5B0F-52934114F1B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MySQL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Excel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Power BI Reports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Tableau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Project Documentation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Final Presentation</a:t>
            </a:r>
          </a:p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9770F0-44F1-A9CD-9CD5-9830411939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✔ Database Design</a:t>
            </a:r>
          </a:p>
          <a:p>
            <a:pPr>
              <a:buNone/>
            </a:pPr>
            <a:r>
              <a:rPr lang="en-IN" dirty="0"/>
              <a:t>✔ Data Integration</a:t>
            </a:r>
          </a:p>
          <a:p>
            <a:pPr>
              <a:buNone/>
            </a:pPr>
            <a:r>
              <a:rPr lang="en-IN" dirty="0"/>
              <a:t>✔ Data Cleaning</a:t>
            </a:r>
          </a:p>
          <a:p>
            <a:pPr>
              <a:buNone/>
            </a:pPr>
            <a:r>
              <a:rPr lang="en-IN" dirty="0"/>
              <a:t>✔ KPI Development</a:t>
            </a:r>
          </a:p>
          <a:p>
            <a:pPr>
              <a:buNone/>
            </a:pPr>
            <a:r>
              <a:rPr lang="en-IN" dirty="0"/>
              <a:t>✔ Interactive Dashboards</a:t>
            </a:r>
          </a:p>
          <a:p>
            <a:pPr>
              <a:buNone/>
            </a:pPr>
            <a:r>
              <a:rPr lang="en-IN" dirty="0"/>
              <a:t>✔ SQL Analytics</a:t>
            </a:r>
          </a:p>
          <a:p>
            <a:pPr>
              <a:buNone/>
            </a:pPr>
            <a:r>
              <a:rPr lang="en-IN" dirty="0"/>
              <a:t>✔ Business Reporting</a:t>
            </a:r>
          </a:p>
          <a:p>
            <a:pPr>
              <a:buNone/>
            </a:pPr>
            <a:r>
              <a:rPr lang="en-IN" dirty="0"/>
              <a:t>✔ Data Visualization</a:t>
            </a:r>
          </a:p>
          <a:p>
            <a:pPr>
              <a:buNone/>
            </a:pPr>
            <a:r>
              <a:rPr lang="en-IN" dirty="0"/>
              <a:t>✔ Executive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353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EACAA-2A47-4606-B7BC-38035A9B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681C7-B1F1-F7D6-86EF-1C96B1CC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Predictive Analytics</a:t>
            </a:r>
          </a:p>
          <a:p>
            <a:r>
              <a:rPr lang="en-IN" dirty="0"/>
              <a:t>Forecast future sales using machine learning.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Customer Segmentation</a:t>
            </a:r>
          </a:p>
          <a:p>
            <a:r>
              <a:rPr lang="en-IN" dirty="0"/>
              <a:t>Apply clustering techniques to identify customer groups.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Inventory Optimization</a:t>
            </a:r>
          </a:p>
          <a:p>
            <a:r>
              <a:rPr lang="en-IN" dirty="0"/>
              <a:t>Use predictive models for stock planning.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Real-Time Dashboards</a:t>
            </a:r>
          </a:p>
          <a:p>
            <a:r>
              <a:rPr lang="en-IN" dirty="0"/>
              <a:t>Connect dashboards to live databases for real-time reporting.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Cloud Deployment</a:t>
            </a:r>
          </a:p>
          <a:p>
            <a:r>
              <a:rPr lang="en-IN" dirty="0"/>
              <a:t>Deploy reports using cloud platforms such as Microsoft Fabric, Azure, or Power BI Service.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AI Integration</a:t>
            </a:r>
          </a:p>
          <a:p>
            <a:r>
              <a:rPr lang="en-IN" dirty="0"/>
              <a:t>Use AI-powered insights for anomaly detection and trend forecasting.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42EB7-85FD-5072-E542-1EBE1D470A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31FF9-589C-8E21-7EBD-08C4794BD93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71504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8ED4-7093-94F9-FC92-7B76EA26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9C232-61BC-7A0B-E3A1-7B79D42851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Project 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8C3C4-4DEC-8E53-6F2D-F1D93F316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Summary</a:t>
            </a:r>
          </a:p>
          <a:p>
            <a:pPr>
              <a:buNone/>
            </a:pPr>
            <a:r>
              <a:rPr lang="en-IN" dirty="0"/>
              <a:t>This project demonstrates the complete Business Intelligence lifecycle by integrating: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MySQL for data storage and SQL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Excel for data preparation and KPI reporting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Power BI for interactive dashboards and business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Tableau for advanced visual storytelling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Key Outcome</a:t>
            </a:r>
          </a:p>
          <a:p>
            <a:pPr>
              <a:buNone/>
            </a:pPr>
            <a:r>
              <a:rPr lang="en-IN" dirty="0"/>
              <a:t>     The solution transforms raw transactional data into meaningful business insights, enabling faster, data-driven decision-making.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3EBA7-9D29-D485-E3E6-40382EAA6A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1A76-CF4D-B43C-9713-C042CCAB58E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6910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Kailash Singh Rawat</a:t>
            </a:r>
          </a:p>
        </p:txBody>
      </p:sp>
      <p:pic>
        <p:nvPicPr>
          <p:cNvPr id="8" name="Graphic 7" descr="User" title="Icon - Presenter Name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7877571308</a:t>
            </a:r>
          </a:p>
        </p:txBody>
      </p:sp>
      <p:pic>
        <p:nvPicPr>
          <p:cNvPr id="10" name="Graphic 9" descr="Smart Phone" title="Icon - Presenter Phone Numbe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sz="1600" dirty="0"/>
              <a:t>kailashsingh2203@gmail.com</a:t>
            </a:r>
          </a:p>
        </p:txBody>
      </p:sp>
      <p:pic>
        <p:nvPicPr>
          <p:cNvPr id="9" name="Graphic 8" descr="Envelope" title="Icon Presenter Email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sz="1600" dirty="0"/>
              <a:t>https://github.com/kailash4454</a:t>
            </a:r>
          </a:p>
        </p:txBody>
      </p:sp>
      <p:pic>
        <p:nvPicPr>
          <p:cNvPr id="11" name="Graphic 10" descr="Link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1C245E38-7A2C-4D38-96FA-24EAC5F220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90D0D0-7C1D-47FF-A2F0-9937AA567A3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371</TotalTime>
  <Words>2041</Words>
  <Application>Microsoft Office PowerPoint</Application>
  <PresentationFormat>Widescreen</PresentationFormat>
  <Paragraphs>696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Candara</vt:lpstr>
      <vt:lpstr>Corbel</vt:lpstr>
      <vt:lpstr>Times New Roman</vt:lpstr>
      <vt:lpstr>Custom</vt:lpstr>
      <vt:lpstr>Adventure Works Business Intelligence &amp; Sales Analytics </vt:lpstr>
      <vt:lpstr>Presented By</vt:lpstr>
      <vt:lpstr>Company Overview</vt:lpstr>
      <vt:lpstr>Business Challenges</vt:lpstr>
      <vt:lpstr>Project Objectives</vt:lpstr>
      <vt:lpstr>Project Architecture</vt:lpstr>
      <vt:lpstr>Data Model (Star Schema)</vt:lpstr>
      <vt:lpstr>MySQL Database Implementation</vt:lpstr>
      <vt:lpstr>MySQL Database Design &amp; Data Preparation</vt:lpstr>
      <vt:lpstr>Database Schema</vt:lpstr>
      <vt:lpstr>SQL Queries &amp; Data Preparation</vt:lpstr>
      <vt:lpstr>PowerPoint Presentation</vt:lpstr>
      <vt:lpstr>MySQL Business Insights</vt:lpstr>
      <vt:lpstr>Microsoft Excel Analytics</vt:lpstr>
      <vt:lpstr>Microsoft Excel Data Analysis Workflow</vt:lpstr>
      <vt:lpstr>PowerPoint Presentation</vt:lpstr>
      <vt:lpstr>Excel Dashboard</vt:lpstr>
      <vt:lpstr>Excel Outcomes &amp; Transition</vt:lpstr>
      <vt:lpstr>Power BI Business Intelligence</vt:lpstr>
      <vt:lpstr>Power BI Data Modelling &amp; ETL Process</vt:lpstr>
      <vt:lpstr>PowerPoint Presentation</vt:lpstr>
      <vt:lpstr>Power BI Executive Dashboard</vt:lpstr>
      <vt:lpstr>PowerPoint Presentation</vt:lpstr>
      <vt:lpstr>Product Performance Dashboard</vt:lpstr>
      <vt:lpstr>PowerPoint Presentation</vt:lpstr>
      <vt:lpstr>Sales Analysis Dashboard</vt:lpstr>
      <vt:lpstr>PowerPoint Presentation</vt:lpstr>
      <vt:lpstr>Customer &amp; Regional Intelligence Dashboard</vt:lpstr>
      <vt:lpstr>DAX Measures &amp; Business KPIs</vt:lpstr>
      <vt:lpstr>Tableau Business Analytics</vt:lpstr>
      <vt:lpstr>PowerPoint Presentation</vt:lpstr>
      <vt:lpstr>Tableau Business Analytics</vt:lpstr>
      <vt:lpstr>Power BI vs Tableau Comparison</vt:lpstr>
      <vt:lpstr>Business Insights, Recommendations &amp; Conclusion</vt:lpstr>
      <vt:lpstr>Executive Business Performance Summary</vt:lpstr>
      <vt:lpstr>Key Business Insights</vt:lpstr>
      <vt:lpstr>Business Recommendations</vt:lpstr>
      <vt:lpstr>Challenges &amp; Solutions</vt:lpstr>
      <vt:lpstr>Technical Skills Applied</vt:lpstr>
      <vt:lpstr>Project Achievements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kailash singh rawat</dc:creator>
  <cp:lastModifiedBy>kailash singh rawat</cp:lastModifiedBy>
  <cp:revision>12</cp:revision>
  <dcterms:created xsi:type="dcterms:W3CDTF">2026-08-04T17:09:18Z</dcterms:created>
  <dcterms:modified xsi:type="dcterms:W3CDTF">2026-08-05T13:08:38Z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